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Section A</c:v>
                </c:pt>
              </c:strCache>
            </c:strRef>
          </c:tx>
          <c:spPr>
            <a:solidFill>
              <a:srgbClr val="2A9D8F"/>
            </a:solidFill>
          </c:spPr>
          <c:cat>
            <c:strRef>
              <c:f>Sheet1!$A$2:$A$5</c:f>
              <c:strCache>
                <c:ptCount val="4"/>
                <c:pt idx="0">
                  <c:v>10 °C</c:v>
                </c:pt>
                <c:pt idx="1">
                  <c:v>20 °C</c:v>
                </c:pt>
                <c:pt idx="2">
                  <c:v>30 °C</c:v>
                </c:pt>
                <c:pt idx="3">
                  <c:v>40 °C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27</c:v>
                </c:pt>
                <c:pt idx="3">
                  <c:v>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Section B</c:v>
                </c:pt>
              </c:strCache>
            </c:strRef>
          </c:tx>
          <c:spPr>
            <a:solidFill>
              <a:srgbClr val="F4A261"/>
            </a:solidFill>
          </c:spPr>
          <c:cat>
            <c:strRef>
              <c:f>Sheet1!$A$2:$A$5</c:f>
              <c:strCache>
                <c:ptCount val="4"/>
                <c:pt idx="0">
                  <c:v>10 °C</c:v>
                </c:pt>
                <c:pt idx="1">
                  <c:v>20 °C</c:v>
                </c:pt>
                <c:pt idx="2">
                  <c:v>30 °C</c:v>
                </c:pt>
                <c:pt idx="3">
                  <c:v>40 °C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17</c:v>
                </c:pt>
                <c:pt idx="2">
                  <c:v>25</c:v>
                </c:pt>
                <c:pt idx="3">
                  <c:v>31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Section C</c:v>
                </c:pt>
              </c:strCache>
            </c:strRef>
          </c:tx>
          <c:spPr>
            <a:solidFill>
              <a:srgbClr val="E76F51"/>
            </a:solidFill>
          </c:spPr>
          <c:cat>
            <c:strRef>
              <c:f>Sheet1!$A$2:$A$5</c:f>
              <c:strCache>
                <c:ptCount val="4"/>
                <c:pt idx="0">
                  <c:v>10 °C</c:v>
                </c:pt>
                <c:pt idx="1">
                  <c:v>20 °C</c:v>
                </c:pt>
                <c:pt idx="2">
                  <c:v>30 °C</c:v>
                </c:pt>
                <c:pt idx="3">
                  <c:v>40 °C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14</c:v>
                </c:pt>
                <c:pt idx="1">
                  <c:v>21</c:v>
                </c:pt>
                <c:pt idx="2">
                  <c:v>30</c:v>
                </c:pt>
                <c:pt idx="3">
                  <c:v>38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2011680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Introduction to Cell Biology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DE6EE"/>
                </a:solidFill>
              </a:defRPr>
            </a:pPr>
            <a:r>
              <a:t>Lecture 3 · Membranes and Transport</a:t>
            </a:r>
          </a:p>
          <a:p>
            <a:pPr>
              <a:defRPr sz="2000">
                <a:solidFill>
                  <a:srgbClr val="DDE6EE"/>
                </a:solidFill>
              </a:defRPr>
            </a:pPr>
            <a:r>
              <a:t>細胞生物學導論 · 第三講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F"/>
                </a:solidFill>
              </a:defRPr>
            </a:pPr>
            <a:r>
              <a:t>Today's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55B66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F3A5F"/>
                </a:solidFill>
              </a:defRPr>
            </a:pPr>
            <a:r>
              <a:t>•  Structure of the plasma membrane</a:t>
            </a:r>
          </a:p>
          <a:p>
            <a:pPr lvl="1">
              <a:spcAft>
                <a:spcPts val="1000"/>
              </a:spcAft>
              <a:defRPr sz="2000">
                <a:solidFill>
                  <a:srgbClr val="555B66"/>
                </a:solidFill>
              </a:defRPr>
            </a:pPr>
            <a:r>
              <a:t>–  Phospholipid bilayer and fluid mosaic model</a:t>
            </a:r>
          </a:p>
          <a:p>
            <a:pPr>
              <a:spcAft>
                <a:spcPts val="1000"/>
              </a:spcAft>
              <a:defRPr sz="2400">
                <a:solidFill>
                  <a:srgbClr val="1F3A5F"/>
                </a:solidFill>
              </a:defRPr>
            </a:pPr>
            <a:r>
              <a:t>•  Passive transport</a:t>
            </a:r>
          </a:p>
          <a:p>
            <a:pPr lvl="1">
              <a:spcAft>
                <a:spcPts val="1000"/>
              </a:spcAft>
              <a:defRPr sz="2000">
                <a:solidFill>
                  <a:srgbClr val="555B66"/>
                </a:solidFill>
              </a:defRPr>
            </a:pPr>
            <a:r>
              <a:t>–  Diffusion, osmosis, facilitated diffusion</a:t>
            </a:r>
          </a:p>
          <a:p>
            <a:pPr>
              <a:spcAft>
                <a:spcPts val="1000"/>
              </a:spcAft>
              <a:defRPr sz="2400">
                <a:solidFill>
                  <a:srgbClr val="1F3A5F"/>
                </a:solidFill>
              </a:defRPr>
            </a:pPr>
            <a:r>
              <a:t>•  Active transport and pumps</a:t>
            </a:r>
          </a:p>
          <a:p>
            <a:pPr>
              <a:spcAft>
                <a:spcPts val="1000"/>
              </a:spcAft>
              <a:defRPr sz="2400">
                <a:solidFill>
                  <a:srgbClr val="1F3A5F"/>
                </a:solidFill>
              </a:defRPr>
            </a:pPr>
            <a:r>
              <a:t>•  Review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F"/>
                </a:solidFill>
              </a:defRPr>
            </a:pPr>
            <a:r>
              <a:t>Cells under the microscope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55B66"/>
                </a:solidFill>
              </a:defRPr>
            </a:pPr>
            <a:r>
              <a:t>3</a:t>
            </a:r>
          </a:p>
        </p:txBody>
      </p:sp>
      <p:pic>
        <p:nvPicPr>
          <p:cNvPr id="5" name="Picture 4" descr="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4864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7373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3A5F"/>
                </a:solidFill>
              </a:defRPr>
            </a:pPr>
            <a:r>
              <a:t>•  Membranes separate inside from outside</a:t>
            </a:r>
          </a:p>
          <a:p>
            <a:pPr>
              <a:spcAft>
                <a:spcPts val="1000"/>
              </a:spcAft>
              <a:defRPr sz="2200">
                <a:solidFill>
                  <a:srgbClr val="1F3A5F"/>
                </a:solidFill>
              </a:defRPr>
            </a:pPr>
            <a:r>
              <a:t>•  Selective: lets some molecules through</a:t>
            </a:r>
          </a:p>
          <a:p>
            <a:pPr lvl="1">
              <a:spcAft>
                <a:spcPts val="1000"/>
              </a:spcAft>
              <a:defRPr sz="1800">
                <a:solidFill>
                  <a:srgbClr val="555B66"/>
                </a:solidFill>
              </a:defRPr>
            </a:pPr>
            <a:r>
              <a:t>–  Small, non-polar molecules pass easily</a:t>
            </a:r>
          </a:p>
          <a:p>
            <a:pPr lvl="1">
              <a:spcAft>
                <a:spcPts val="1000"/>
              </a:spcAft>
              <a:defRPr sz="1800">
                <a:solidFill>
                  <a:srgbClr val="555B66"/>
                </a:solidFill>
              </a:defRPr>
            </a:pPr>
            <a:r>
              <a:t>–  Ions need channels or pumps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F"/>
                </a:solidFill>
              </a:defRPr>
            </a:pPr>
            <a:r>
              <a:t>Three ways across the membrane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55B66"/>
                </a:solidFill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291840" cy="310896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Diffusion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High → low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no energy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60520" y="3291840"/>
            <a:ext cx="411480" cy="548640"/>
          </a:xfrm>
          <a:prstGeom prst="rightArrow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17720" y="2011680"/>
            <a:ext cx="3291840" cy="310896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Facilitated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Through channel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proteins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955280" y="3291840"/>
            <a:ext cx="411480" cy="548640"/>
          </a:xfrm>
          <a:prstGeom prst="rightArrow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0" y="2011680"/>
            <a:ext cx="3291840" cy="310896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Active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Low → high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uses ATP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F"/>
                </a:solidFill>
              </a:defRPr>
            </a:pPr>
            <a:r>
              <a:t>Diffusion rate vs. temperature</a:t>
            </a:r>
          </a:p>
          <a:p>
            <a:pPr>
              <a:defRPr sz="1800">
                <a:solidFill>
                  <a:srgbClr val="555B66"/>
                </a:solidFill>
              </a:defRPr>
            </a:pPr>
            <a:r>
              <a:t>Lab results, section A–C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55B66"/>
                </a:solidFill>
              </a:defRPr>
            </a:pPr>
            <a:r>
              <a:t>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737360"/>
          <a:ext cx="105156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F"/>
                </a:solidFill>
              </a:defRPr>
            </a:pPr>
            <a:r>
              <a:t>Transport proteins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55B66"/>
                </a:solidFill>
              </a:defRPr>
            </a:pPr>
            <a: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2880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658368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Protein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Moves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Aquaporin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GLUT1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Carrier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Glucose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Na⁺/K⁺ pump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Pump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Na⁺ out, K⁺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ATP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Ca²⁺ pump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Pump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Ca²⁺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ATP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F"/>
                </a:solidFill>
              </a:defRPr>
            </a:pPr>
            <a:r>
              <a:t>重點整理 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55B66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F3A5F"/>
                </a:solidFill>
              </a:defRPr>
            </a:pPr>
            <a:r>
              <a:t>•  細胞膜由磷脂雙層構成，具有選擇性通透</a:t>
            </a:r>
          </a:p>
          <a:p>
            <a:pPr>
              <a:spcAft>
                <a:spcPts val="1000"/>
              </a:spcAft>
              <a:defRPr sz="2400">
                <a:solidFill>
                  <a:srgbClr val="1F3A5F"/>
                </a:solidFill>
              </a:defRPr>
            </a:pPr>
            <a:r>
              <a:t>•  被動運輸：順著濃度梯度，不消耗能量</a:t>
            </a:r>
          </a:p>
          <a:p>
            <a:pPr>
              <a:spcAft>
                <a:spcPts val="1000"/>
              </a:spcAft>
              <a:defRPr sz="2400">
                <a:solidFill>
                  <a:srgbClr val="1F3A5F"/>
                </a:solidFill>
              </a:defRPr>
            </a:pPr>
            <a:r>
              <a:t>•  主動運輸：逆著濃度梯度，需要 ATP</a:t>
            </a:r>
          </a:p>
          <a:p>
            <a:pPr lvl="1">
              <a:spcAft>
                <a:spcPts val="1000"/>
              </a:spcAft>
              <a:defRPr sz="2000">
                <a:solidFill>
                  <a:srgbClr val="555B66"/>
                </a:solidFill>
              </a:defRPr>
            </a:pPr>
            <a:r>
              <a:t>–  例：鈉鉀幫浦維持神經細胞的膜電位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F"/>
                </a:solidFill>
              </a:defRPr>
            </a:pPr>
            <a:r>
              <a:t>Review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55B66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F3A5F"/>
                </a:solidFill>
              </a:defRPr>
            </a:pPr>
            <a:r>
              <a:t>•  Why can't ions cross the bilayer on their own?</a:t>
            </a:r>
          </a:p>
          <a:p>
            <a:pPr>
              <a:spcAft>
                <a:spcPts val="1000"/>
              </a:spcAft>
              <a:defRPr sz="2400">
                <a:solidFill>
                  <a:srgbClr val="1F3A5F"/>
                </a:solidFill>
              </a:defRPr>
            </a:pPr>
            <a:r>
              <a:t>•  What happens to a red blood cell in pure water?</a:t>
            </a:r>
          </a:p>
          <a:p>
            <a:pPr>
              <a:spcAft>
                <a:spcPts val="1000"/>
              </a:spcAft>
              <a:defRPr sz="2400">
                <a:solidFill>
                  <a:srgbClr val="1F3A5F"/>
                </a:solidFill>
              </a:defRPr>
            </a:pPr>
            <a:r>
              <a:t>•  Name one pump and what it moves.</a:t>
            </a:r>
          </a:p>
          <a:p>
            <a:pPr>
              <a:spcAft>
                <a:spcPts val="1000"/>
              </a:spcAft>
              <a:defRPr sz="2400">
                <a:solidFill>
                  <a:srgbClr val="1F3A5F"/>
                </a:solidFill>
              </a:defRPr>
            </a:pPr>
            <a:r>
              <a:t>•  Next week: cell signalling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